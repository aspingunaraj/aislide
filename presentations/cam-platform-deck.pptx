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6858000"/>
          </a:xfrm>
          <a:prstGeom prst="roundRect">
            <a:avLst/>
          </a:prstGeom>
          <a:solidFill>
            <a:srgbClr val="0D7B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134100"/>
            <a:ext cx="12192000" cy="723900"/>
          </a:xfrm>
          <a:prstGeom prst="roundRect">
            <a:avLst/>
          </a:prstGeom>
          <a:solidFill>
            <a:srgbClr val="0D234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409700"/>
            <a:ext cx="6667500" cy="26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C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APPRAISAL MODERNISATION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62000" y="1714500"/>
            <a:ext cx="685800" cy="47625"/>
          </a:xfrm>
          <a:prstGeom prst="roundRect">
            <a:avLst/>
          </a:prstGeom>
          <a:solidFill>
            <a:srgbClr val="0D7B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2000" y="1924050"/>
            <a:ext cx="10477500" cy="1238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 Intelligence Platform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62000" y="3352800"/>
            <a:ext cx="8572500" cy="495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5BC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Reimagining Credit Appraisal with AI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62000" y="4000500"/>
            <a:ext cx="8763000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0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verified data ingestion to decision-ready CAMs — one guided flow instead of scattered pages and repeated data pulls.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2000" y="6324600"/>
            <a:ext cx="5715000" cy="2476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Bank  |  Credit &amp; Risk Division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049000" y="6324600"/>
            <a:ext cx="762000" cy="2476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7150"/>
          </a:xfrm>
          <a:prstGeom prst="roundRect">
            <a:avLst/>
          </a:prstGeom>
          <a:solidFill>
            <a:srgbClr val="1A3C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1500" y="342900"/>
            <a:ext cx="9525000" cy="495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 with Traditional Credit Appraisal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71500" y="895350"/>
            <a:ext cx="1905000" cy="28575"/>
          </a:xfrm>
          <a:prstGeom prst="roundRect">
            <a:avLst/>
          </a:prstGeom>
          <a:solidFill>
            <a:srgbClr val="0D7B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1500" y="1047750"/>
            <a:ext cx="11049000" cy="342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Analysts spend 60–70% of their time gathering data instead of analysing it — creating delays, errors and inconsistency.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71500" y="1543050"/>
            <a:ext cx="5219700" cy="1485900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2940" y="1588770"/>
            <a:ext cx="5036820" cy="742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3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Scattered Data Sources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62940" y="2211705"/>
            <a:ext cx="5036820" cy="668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KYC, GST, EPFO, charges and legal records pulled manually from 8+ disconnected sources — prone to errors and costly omissions.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1543050"/>
            <a:ext cx="5219700" cy="1485900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588770"/>
            <a:ext cx="5036820" cy="742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3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Institutional Memory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92240" y="2211705"/>
            <a:ext cx="5036820" cy="668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new case starts from scratch. Verified records are never reused — wasting analyst effort on repetitive borrower onboarding.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1500" y="3181350"/>
            <a:ext cx="5219700" cy="1485900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" y="3227070"/>
            <a:ext cx="5036820" cy="742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3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CAM Quality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62940" y="3850005"/>
            <a:ext cx="5036820" cy="668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Narratives vary widely across analysts and branches. Credit committees face incomplete or mismatched data at every review stage.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181350"/>
            <a:ext cx="5219700" cy="1485900"/>
          </a:xfrm>
          <a:prstGeom prst="roundRect">
            <a:avLst/>
          </a:prstGeom>
          <a:solidFill>
            <a:srgbClr val="FFF0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3227070"/>
            <a:ext cx="5036820" cy="742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A020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5–7 Day Turnaround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92240" y="3850005"/>
            <a:ext cx="5036820" cy="668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CAM preparation takes nearly a week. Borrowers face uncertainty while teams juggle fragmented, unconnected workflows.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71500" y="4895850"/>
            <a:ext cx="11049000" cy="342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hour of delay erodes borrower confidence — and analyst productivity.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71500" y="6534150"/>
            <a:ext cx="5715000" cy="2095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 Intelligence Platform  |  Indian Bank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39500" y="6534150"/>
            <a:ext cx="571500" cy="2095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7150"/>
          </a:xfrm>
          <a:prstGeom prst="roundRect">
            <a:avLst/>
          </a:prstGeom>
          <a:solidFill>
            <a:srgbClr val="1A3C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1500" y="285750"/>
            <a:ext cx="10477500" cy="476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3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CAM Intelligence Platform: One Guided 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71500" y="819150"/>
            <a:ext cx="1714500" cy="28575"/>
          </a:xfrm>
          <a:prstGeom prst="roundRect">
            <a:avLst/>
          </a:prstGeom>
          <a:solidFill>
            <a:srgbClr val="0D7B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1500" y="952500"/>
            <a:ext cx="10477500" cy="3238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structured stages replace scattered tabs and repeated manual lookups — from onboarding to final decision.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71500" y="1428750"/>
            <a:ext cx="20574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1500" y="1619250"/>
            <a:ext cx="20574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D7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914400" y="2266950"/>
            <a:ext cx="1371600" cy="19050"/>
          </a:xfrm>
          <a:prstGeom prst="roundRect">
            <a:avLst/>
          </a:prstGeom>
          <a:solidFill>
            <a:srgbClr val="D0D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700" y="2400300"/>
            <a:ext cx="1905000" cy="419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Onboarding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7700" y="2876550"/>
            <a:ext cx="1905000" cy="76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borrower identity and create a unified entity profile from verified sources.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19400" y="1428750"/>
            <a:ext cx="20574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19400" y="1619250"/>
            <a:ext cx="20574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D7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200" dirty="0"/>
          </a:p>
        </p:txBody>
      </p:sp>
      <p:sp>
        <p:nvSpPr>
          <p:cNvPr id="13" name="Shape 11"/>
          <p:cNvSpPr/>
          <p:nvPr/>
        </p:nvSpPr>
        <p:spPr>
          <a:xfrm>
            <a:off x="3162300" y="2266950"/>
            <a:ext cx="1371600" cy="19050"/>
          </a:xfrm>
          <a:prstGeom prst="roundRect">
            <a:avLst/>
          </a:prstGeom>
          <a:solidFill>
            <a:srgbClr val="D0D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95600" y="2400300"/>
            <a:ext cx="1905000" cy="419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Data Pull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895600" y="2876550"/>
            <a:ext cx="1905000" cy="76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Auto-populate KYC, GST, EPFO, charges, ratings and legal history from live APIs.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67300" y="1428750"/>
            <a:ext cx="20574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67300" y="1619250"/>
            <a:ext cx="20574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D7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200" dirty="0"/>
          </a:p>
        </p:txBody>
      </p:sp>
      <p:sp>
        <p:nvSpPr>
          <p:cNvPr id="18" name="Shape 16"/>
          <p:cNvSpPr/>
          <p:nvPr/>
        </p:nvSpPr>
        <p:spPr>
          <a:xfrm>
            <a:off x="5410200" y="2266950"/>
            <a:ext cx="1371600" cy="19050"/>
          </a:xfrm>
          <a:prstGeom prst="roundRect">
            <a:avLst/>
          </a:prstGeom>
          <a:solidFill>
            <a:srgbClr val="D0D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43500" y="2400300"/>
            <a:ext cx="1905000" cy="419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Hub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43500" y="2876550"/>
            <a:ext cx="1905000" cy="76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Centralised repository for financials, KYC, banking, collateral, legal and GST documents.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0" y="1428750"/>
            <a:ext cx="20574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0" y="1619250"/>
            <a:ext cx="20574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D7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200" dirty="0"/>
          </a:p>
        </p:txBody>
      </p:sp>
      <p:sp>
        <p:nvSpPr>
          <p:cNvPr id="23" name="Shape 21"/>
          <p:cNvSpPr/>
          <p:nvPr/>
        </p:nvSpPr>
        <p:spPr>
          <a:xfrm>
            <a:off x="7658100" y="2266950"/>
            <a:ext cx="1371600" cy="19050"/>
          </a:xfrm>
          <a:prstGeom prst="roundRect">
            <a:avLst/>
          </a:prstGeom>
          <a:solidFill>
            <a:srgbClr val="D0D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91400" y="2400300"/>
            <a:ext cx="1905000" cy="419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CAM Draft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91400" y="2876550"/>
            <a:ext cx="1905000" cy="76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AI-powered or template-based CAM narratives with analyst chat for Q&amp;A.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563100" y="1428750"/>
            <a:ext cx="20574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63100" y="1619250"/>
            <a:ext cx="205740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D7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4200" dirty="0"/>
          </a:p>
        </p:txBody>
      </p:sp>
      <p:sp>
        <p:nvSpPr>
          <p:cNvPr id="28" name="Shape 26"/>
          <p:cNvSpPr/>
          <p:nvPr/>
        </p:nvSpPr>
        <p:spPr>
          <a:xfrm>
            <a:off x="9906000" y="2266950"/>
            <a:ext cx="1371600" cy="19050"/>
          </a:xfrm>
          <a:prstGeom prst="roundRect">
            <a:avLst/>
          </a:prstGeom>
          <a:solidFill>
            <a:srgbClr val="D0D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39300" y="2400300"/>
            <a:ext cx="1905000" cy="419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360° Review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639300" y="2876550"/>
            <a:ext cx="1905000" cy="76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workspace with financials, credit risk, red flags, market intel and sell perspective.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1500" y="5162550"/>
            <a:ext cx="11049000" cy="342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entire journey — from identity resolution to credit committee presentation — in one governed, auditable workspace.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71500" y="6534150"/>
            <a:ext cx="5715000" cy="2095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 Intelligence Platform  |  Indian Bank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239500" y="6534150"/>
            <a:ext cx="571500" cy="2095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7150"/>
          </a:xfrm>
          <a:prstGeom prst="roundRect">
            <a:avLst/>
          </a:prstGeom>
          <a:solidFill>
            <a:srgbClr val="1A3C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1500" y="285750"/>
            <a:ext cx="8572500" cy="476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 That Set It Apart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71500" y="819150"/>
            <a:ext cx="1714500" cy="28575"/>
          </a:xfrm>
          <a:prstGeom prst="roundRect">
            <a:avLst/>
          </a:prstGeom>
          <a:solidFill>
            <a:srgbClr val="0D7B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" y="1028700"/>
            <a:ext cx="3429000" cy="152400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2940" y="1074420"/>
            <a:ext cx="324612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3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Public Records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62940" y="171450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API integration for KYC, GST, EPFO, charges, credit ratings and legal history — zero manual retrieval.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1500" y="1028700"/>
            <a:ext cx="3429000" cy="152400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72940" y="1074420"/>
            <a:ext cx="324612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3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Narratives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72940" y="171450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Template-based or LLM-powered CAM text generation with configurable engine registry and benchmarks.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91500" y="1028700"/>
            <a:ext cx="3429000" cy="152400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82940" y="1074420"/>
            <a:ext cx="324612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3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360° Borrower Snapshot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82940" y="171450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tabs covering Overview, Financials, Credit Risk, Banking, Market Intel and Sell Perspective.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1500" y="2781300"/>
            <a:ext cx="3429000" cy="1524000"/>
          </a:xfrm>
          <a:prstGeom prst="roundRect">
            <a:avLst/>
          </a:prstGeom>
          <a:solidFill>
            <a:srgbClr val="FFF3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" y="2827020"/>
            <a:ext cx="324612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020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Flags &amp; Watchlist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2940" y="346710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severity scoring with watchlist alerts on legal risks, financial stress signals and governance issues.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81500" y="2781300"/>
            <a:ext cx="3429000" cy="152400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72940" y="2827020"/>
            <a:ext cx="324612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3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Chat — In Context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72940" y="346710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questions about the live case and receive AI-sourced answers grounded in verified case data and documents.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91500" y="2781300"/>
            <a:ext cx="3429000" cy="152400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82940" y="2827020"/>
            <a:ext cx="324612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3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Pipeline Monitor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82940" y="346710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every extraction, enrichment, scoring and narrative step in real time with full agent execution visibility.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1500" y="4572000"/>
            <a:ext cx="11049000" cy="342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feature is designed to reduce analyst effort, improve data quality and accelerate credit decisions.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1500" y="6534150"/>
            <a:ext cx="5715000" cy="2095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 Intelligence Platform  |  Indian Bank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39500" y="6534150"/>
            <a:ext cx="571500" cy="2095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7150"/>
          </a:xfrm>
          <a:prstGeom prst="roundRect">
            <a:avLst/>
          </a:prstGeom>
          <a:solidFill>
            <a:srgbClr val="1A3C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1500" y="285750"/>
            <a:ext cx="8572500" cy="476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Dashboard &amp; Work Queue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71500" y="819150"/>
            <a:ext cx="1714500" cy="28575"/>
          </a:xfrm>
          <a:prstGeom prst="roundRect">
            <a:avLst/>
          </a:prstGeom>
          <a:solidFill>
            <a:srgbClr val="0D7B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" y="990600"/>
            <a:ext cx="2495550" cy="952500"/>
          </a:xfrm>
          <a:prstGeom prst="roundRect">
            <a:avLst/>
          </a:prstGeom>
          <a:solidFill>
            <a:srgbClr val="1A3C6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2940" y="1036320"/>
            <a:ext cx="2312670" cy="523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87.3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62940" y="1514475"/>
            <a:ext cx="2312670" cy="333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Risk Score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57550" y="990600"/>
            <a:ext cx="2495550" cy="952500"/>
          </a:xfrm>
          <a:prstGeom prst="roundRect">
            <a:avLst/>
          </a:prstGeom>
          <a:solidFill>
            <a:srgbClr val="0D7B8A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48990" y="1036320"/>
            <a:ext cx="2312670" cy="523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76%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348990" y="1514475"/>
            <a:ext cx="2312670" cy="333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 Rate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0" y="990600"/>
            <a:ext cx="2495550" cy="952500"/>
          </a:xfrm>
          <a:prstGeom prst="roundRect">
            <a:avLst/>
          </a:prstGeom>
          <a:solidFill>
            <a:srgbClr val="C0392B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1036320"/>
            <a:ext cx="2312670" cy="523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035040" y="1514475"/>
            <a:ext cx="2312670" cy="333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Risk Cases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29650" y="990600"/>
            <a:ext cx="2990850" cy="952500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21090" y="1036320"/>
            <a:ext cx="2807970" cy="523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721090" y="1514475"/>
            <a:ext cx="2807970" cy="333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CAMs in Pipeline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" y="2152650"/>
          <a:ext cx="11049000" cy="3429000"/>
        </p:xfrm>
        <a:graphic>
          <a:graphicData uri="http://schemas.openxmlformats.org/drawingml/2006/table">
            <a:tbl>
              <a:tblPr/>
              <a:tblGrid>
                <a:gridCol w="1841500"/>
                <a:gridCol w="1841500"/>
                <a:gridCol w="1841500"/>
                <a:gridCol w="1841500"/>
                <a:gridCol w="1841500"/>
                <a:gridCol w="1841500"/>
              </a:tblGrid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Company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Sector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Facility Type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Amount (Cr)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6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Tata Steel Ltd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Manufacturing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 Loan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Under Review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A+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Reliance Industries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Energy &amp; Petrochem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Working Capital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 Ready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HDFC Commercial Prop.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Estate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Finance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Docs Pending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B+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Sun Pharma Ltd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Pharmaceuticals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 Limit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Adani Ports &amp; SEZ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Infrastructure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 Loan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A-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571500" y="6534150"/>
            <a:ext cx="5715000" cy="2095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 Intelligence Platform  |  Indian Bank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239500" y="6534150"/>
            <a:ext cx="571500" cy="2095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3C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6858000"/>
          </a:xfrm>
          <a:prstGeom prst="roundRect">
            <a:avLst/>
          </a:prstGeom>
          <a:solidFill>
            <a:srgbClr val="0D7B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096000"/>
            <a:ext cx="12192000" cy="762000"/>
          </a:xfrm>
          <a:prstGeom prst="roundRect">
            <a:avLst/>
          </a:prstGeom>
          <a:solidFill>
            <a:srgbClr val="0D234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381000"/>
            <a:ext cx="9525000" cy="5143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Impact &amp; Next Steps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62000" y="952500"/>
            <a:ext cx="1905000" cy="28575"/>
          </a:xfrm>
          <a:prstGeom prst="roundRect">
            <a:avLst/>
          </a:prstGeom>
          <a:solidFill>
            <a:srgbClr val="0D7B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000" y="1181100"/>
            <a:ext cx="3143250" cy="1238250"/>
          </a:xfrm>
          <a:prstGeom prst="roundRect">
            <a:avLst/>
          </a:prstGeom>
          <a:solidFill>
            <a:srgbClr val="0D2E5A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3440" y="1226820"/>
            <a:ext cx="2960370" cy="6810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BC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53440" y="1862138"/>
            <a:ext cx="2960370" cy="4333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Reduction in data gathering time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86250" y="1181100"/>
            <a:ext cx="3143250" cy="1238250"/>
          </a:xfrm>
          <a:prstGeom prst="roundRect">
            <a:avLst/>
          </a:prstGeom>
          <a:solidFill>
            <a:srgbClr val="0D2E5A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77690" y="1226820"/>
            <a:ext cx="2960370" cy="6810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BC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3x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377690" y="1862138"/>
            <a:ext cx="2960370" cy="4333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CAM preparation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10500" y="1181100"/>
            <a:ext cx="3619500" cy="1238250"/>
          </a:xfrm>
          <a:prstGeom prst="roundRect">
            <a:avLst/>
          </a:prstGeom>
          <a:solidFill>
            <a:srgbClr val="0D2E5A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01940" y="1226820"/>
            <a:ext cx="3436620" cy="6810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BC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901940" y="1862138"/>
            <a:ext cx="3436620" cy="4333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Standardised CAM format across branches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2000" y="2724150"/>
            <a:ext cx="5715000" cy="3619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BC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Next Steps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2000" y="3105150"/>
            <a:ext cx="9525" cy="2286000"/>
          </a:xfrm>
          <a:prstGeom prst="roundRect">
            <a:avLst/>
          </a:prstGeom>
          <a:solidFill>
            <a:srgbClr val="0D7B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2500" y="3143250"/>
            <a:ext cx="5143500" cy="3619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Schedule a live platform walkthrough with your credit operations team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52500" y="3600450"/>
            <a:ext cx="5143500" cy="3619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Pilot with 5–10 active CAM cases to benchmark speed and quality improvements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52500" y="4057650"/>
            <a:ext cx="5143500" cy="3619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Configure LLM engine, policy rules and sector benchmarks for your portfolio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52500" y="4514850"/>
            <a:ext cx="5143500" cy="3619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Roll out to all branches with standardised CAM templates and audit trail enabled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048500" y="2667000"/>
            <a:ext cx="4381500" cy="952500"/>
          </a:xfrm>
          <a:prstGeom prst="roundRect">
            <a:avLst/>
          </a:prstGeom>
          <a:solidFill>
            <a:srgbClr val="0D7B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8500" y="2933700"/>
            <a:ext cx="4381500" cy="419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a Demo Today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048500" y="3810000"/>
            <a:ext cx="4381500" cy="2857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C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camdemo-228620181301.asia-south1.run.app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62000" y="6286500"/>
            <a:ext cx="8572500" cy="2095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 Intelligence Platform  |  Indian Bank  |  Confidential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39500" y="6286500"/>
            <a:ext cx="571500" cy="2095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Indian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 Intelligence Platform</dc:title>
  <dc:subject>Credit Appraisal Modernisation</dc:subject>
  <dc:creator>Indian Bank — Credit &amp; Risk Division</dc:creator>
  <cp:lastModifiedBy>Indian Bank — Credit &amp; Risk Division</cp:lastModifiedBy>
  <cp:revision>1</cp:revision>
  <dcterms:created xsi:type="dcterms:W3CDTF">2026-04-14T17:04:24Z</dcterms:created>
  <dcterms:modified xsi:type="dcterms:W3CDTF">2026-04-14T17:04:24Z</dcterms:modified>
</cp:coreProperties>
</file>